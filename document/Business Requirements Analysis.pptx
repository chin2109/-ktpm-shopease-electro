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Red Hat Display Bold" charset="1" panose="02010803040201060303"/>
      <p:regular r:id="rId19"/>
    </p:embeddedFont>
    <p:embeddedFont>
      <p:font typeface="Inter Medium" charset="1" panose="02000503000000020004"/>
      <p:regular r:id="rId20"/>
    </p:embeddedFont>
    <p:embeddedFont>
      <p:font typeface="Inter Bold" charset="1" panose="020B0802030000000004"/>
      <p:regular r:id="rId21"/>
    </p:embeddedFont>
    <p:embeddedFont>
      <p:font typeface="Inter" charset="1" panose="020B050203000000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28099" y="1539161"/>
            <a:ext cx="7719139" cy="77191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96960" y="1539161"/>
            <a:ext cx="7719139" cy="771913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0217" y="1013257"/>
            <a:ext cx="860074" cy="333578"/>
            <a:chOff x="0" y="0"/>
            <a:chExt cx="1146765" cy="44477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6397710" y="1028700"/>
            <a:ext cx="860074" cy="333578"/>
            <a:chOff x="0" y="0"/>
            <a:chExt cx="1146765" cy="444771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22" id="22"/>
          <p:cNvSpPr txBox="true"/>
          <p:nvPr/>
        </p:nvSpPr>
        <p:spPr>
          <a:xfrm rot="0">
            <a:off x="3248883" y="3303290"/>
            <a:ext cx="11790234" cy="209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3"/>
              </a:lnSpc>
              <a:spcBef>
                <a:spcPct val="0"/>
              </a:spcBef>
            </a:pPr>
            <a:r>
              <a:rPr lang="en-US" b="true" sz="6002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BUSIN</a:t>
            </a:r>
            <a:r>
              <a:rPr lang="en-US" b="true" sz="6002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ESS REQUIREMENTS ANALYSIS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23486" y="975157"/>
            <a:ext cx="351253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SOFTWARE TESTING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315968" y="5938819"/>
            <a:ext cx="598050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INSTRUCTOR GUIDES: PH.D. ĐỖ NHƯ TÀI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315968" y="6554134"/>
            <a:ext cx="329898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STUDENTS PERFORM: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315968" y="7191357"/>
            <a:ext cx="212990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TRANG GIA HUY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315968" y="7766667"/>
            <a:ext cx="369998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NGUYỄN LÊ QUỲNH HƯƠNG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23916" y="3436529"/>
            <a:ext cx="8695868" cy="4429931"/>
          </a:xfrm>
          <a:custGeom>
            <a:avLst/>
            <a:gdLst/>
            <a:ahLst/>
            <a:cxnLst/>
            <a:rect r="r" b="b" t="t" l="l"/>
            <a:pathLst>
              <a:path h="4429931" w="8695868">
                <a:moveTo>
                  <a:pt x="0" y="0"/>
                </a:moveTo>
                <a:lnTo>
                  <a:pt x="8695869" y="0"/>
                </a:lnTo>
                <a:lnTo>
                  <a:pt x="8695869" y="4429931"/>
                </a:lnTo>
                <a:lnTo>
                  <a:pt x="0" y="4429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48" t="0" r="-314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67339" y="1752283"/>
            <a:ext cx="7782254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INTRODUCE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95908" y="3555137"/>
            <a:ext cx="7303160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Shopease – Full-Stack E-Commerce App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8215" y="4114442"/>
            <a:ext cx="7303160" cy="4096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Backend:</a:t>
            </a:r>
            <a:r>
              <a:rPr lang="en-US" sz="2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Spring Boot (modular service-controller-repository)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Front end:</a:t>
            </a:r>
            <a:r>
              <a:rPr lang="en-US" sz="2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React (component-based UI)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features:</a:t>
            </a:r>
            <a:r>
              <a:rPr lang="en-US" sz="2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Product browsing, category management, user authetication, shopping cart, order placement, address handling.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Tech stack:</a:t>
            </a:r>
            <a:r>
              <a:rPr lang="en-US" sz="2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Spring security (JWT), JPA/Hibernate for persistence </a:t>
            </a:r>
          </a:p>
          <a:p>
            <a:pPr algn="l">
              <a:lnSpc>
                <a:spcPts val="363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22518" y="792403"/>
            <a:ext cx="10442965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BUSINESS CONTEXT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14095" y="2523918"/>
            <a:ext cx="2718868" cy="3678004"/>
            <a:chOff x="0" y="0"/>
            <a:chExt cx="3625158" cy="490400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400721" y="0"/>
              <a:ext cx="2823715" cy="2823715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104150" y="1057773"/>
              <a:ext cx="1416858" cy="651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16"/>
                </a:lnSpc>
                <a:spcBef>
                  <a:spcPct val="0"/>
                </a:spcBef>
              </a:pPr>
              <a:r>
                <a:rPr lang="en-US" b="true" sz="294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01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993860"/>
              <a:ext cx="3625158" cy="910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56"/>
                </a:lnSpc>
                <a:spcBef>
                  <a:spcPct val="0"/>
                </a:spcBef>
              </a:pPr>
              <a:r>
                <a:rPr lang="en-US" sz="132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Buyer registers/logs in; SysAdmin manages products, categories, orders.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110298"/>
              <a:ext cx="3625158" cy="696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6"/>
                </a:lnSpc>
                <a:spcBef>
                  <a:spcPct val="0"/>
                </a:spcBef>
              </a:pPr>
              <a:r>
                <a:rPr lang="en-US" b="true" sz="1547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AUTHENTICATION &amp; ACCESS CONTROL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694409" y="2523918"/>
            <a:ext cx="2718868" cy="3418339"/>
            <a:chOff x="0" y="0"/>
            <a:chExt cx="3625158" cy="4557786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400721" y="0"/>
              <a:ext cx="2823715" cy="2823715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104150" y="1057773"/>
              <a:ext cx="1416858" cy="651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16"/>
                </a:lnSpc>
                <a:spcBef>
                  <a:spcPct val="0"/>
                </a:spcBef>
              </a:pPr>
              <a:r>
                <a:rPr lang="en-US" b="true" sz="294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02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3647641"/>
              <a:ext cx="3625158" cy="910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56"/>
                </a:lnSpc>
                <a:spcBef>
                  <a:spcPct val="0"/>
                </a:spcBef>
              </a:pPr>
              <a:r>
                <a:rPr lang="en-US" sz="132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Buyer browses &amp; filters products; SysAdmin adds, edits, deletes, organizes products.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3110298"/>
              <a:ext cx="3625158" cy="3506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6"/>
                </a:lnSpc>
                <a:spcBef>
                  <a:spcPct val="0"/>
                </a:spcBef>
              </a:pPr>
              <a:r>
                <a:rPr lang="en-US" b="true" sz="1547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PRODUCT CATALOG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874723" y="2523918"/>
            <a:ext cx="2718868" cy="3418339"/>
            <a:chOff x="0" y="0"/>
            <a:chExt cx="3625158" cy="455778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400721" y="0"/>
              <a:ext cx="2823715" cy="2823715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1104150" y="1057773"/>
              <a:ext cx="1416858" cy="651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16"/>
                </a:lnSpc>
                <a:spcBef>
                  <a:spcPct val="0"/>
                </a:spcBef>
              </a:pPr>
              <a:r>
                <a:rPr lang="en-US" b="true" sz="294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03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3647641"/>
              <a:ext cx="3625158" cy="910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56"/>
                </a:lnSpc>
                <a:spcBef>
                  <a:spcPct val="0"/>
                </a:spcBef>
              </a:pPr>
              <a:r>
                <a:rPr lang="en-US" sz="132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Buyer adds/removes items, views summary, checks out; SysAdmin monitors carts.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3110298"/>
              <a:ext cx="3625158" cy="3506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6"/>
                </a:lnSpc>
                <a:spcBef>
                  <a:spcPct val="0"/>
                </a:spcBef>
              </a:pPr>
              <a:r>
                <a:rPr lang="en-US" b="true" sz="1547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SHOPPING CART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055037" y="2523918"/>
            <a:ext cx="2718868" cy="3418339"/>
            <a:chOff x="0" y="0"/>
            <a:chExt cx="3625158" cy="4557786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400721" y="0"/>
              <a:ext cx="2823715" cy="2823715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1104150" y="1057773"/>
              <a:ext cx="1416858" cy="651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16"/>
                </a:lnSpc>
                <a:spcBef>
                  <a:spcPct val="0"/>
                </a:spcBef>
              </a:pPr>
              <a:r>
                <a:rPr lang="en-US" b="true" sz="294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04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3647641"/>
              <a:ext cx="3625158" cy="910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56"/>
                </a:lnSpc>
                <a:spcBef>
                  <a:spcPct val="0"/>
                </a:spcBef>
              </a:pPr>
              <a:r>
                <a:rPr lang="en-US" sz="132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Buyer places orders &amp; tracks status; SysAdmin oversees all orders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3110298"/>
              <a:ext cx="3625158" cy="3506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6"/>
                </a:lnSpc>
                <a:spcBef>
                  <a:spcPct val="0"/>
                </a:spcBef>
              </a:pPr>
              <a:r>
                <a:rPr lang="en-US" b="true" sz="1547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ORDERING &amp; PAYMENT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459490" y="6263085"/>
            <a:ext cx="2718868" cy="3186717"/>
            <a:chOff x="0" y="0"/>
            <a:chExt cx="3625158" cy="4248956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400721" y="0"/>
              <a:ext cx="2823715" cy="2823715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1104150" y="1057773"/>
              <a:ext cx="1416858" cy="651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16"/>
                </a:lnSpc>
                <a:spcBef>
                  <a:spcPct val="0"/>
                </a:spcBef>
              </a:pPr>
              <a:r>
                <a:rPr lang="en-US" b="true" sz="294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05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0" y="3647641"/>
              <a:ext cx="3625158" cy="6013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56"/>
                </a:lnSpc>
                <a:spcBef>
                  <a:spcPct val="0"/>
                </a:spcBef>
              </a:pPr>
              <a:r>
                <a:rPr lang="en-US" sz="132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SysAdmin uploads product images/resources.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3110298"/>
              <a:ext cx="3625158" cy="3506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6"/>
                </a:lnSpc>
                <a:spcBef>
                  <a:spcPct val="0"/>
                </a:spcBef>
              </a:pPr>
              <a:r>
                <a:rPr lang="en-US" b="true" sz="1547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FILE UPLOAD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920111" y="6263085"/>
            <a:ext cx="2718868" cy="3186717"/>
            <a:chOff x="0" y="0"/>
            <a:chExt cx="3625158" cy="4248956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400721" y="0"/>
              <a:ext cx="2823715" cy="2823715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1104150" y="1057773"/>
              <a:ext cx="1416858" cy="651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16"/>
                </a:lnSpc>
                <a:spcBef>
                  <a:spcPct val="0"/>
                </a:spcBef>
              </a:pPr>
              <a:r>
                <a:rPr lang="en-US" b="true" sz="294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06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0" y="3647641"/>
              <a:ext cx="3625158" cy="6013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56"/>
                </a:lnSpc>
                <a:spcBef>
                  <a:spcPct val="0"/>
                </a:spcBef>
              </a:pPr>
              <a:r>
                <a:rPr lang="en-US" sz="132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Buyer manages delivery addresses for checkout.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0" y="3110298"/>
              <a:ext cx="3625158" cy="3506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6"/>
                </a:lnSpc>
                <a:spcBef>
                  <a:spcPct val="0"/>
                </a:spcBef>
              </a:pPr>
              <a:r>
                <a:rPr lang="en-US" b="true" sz="1547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ADDRESS MANAGEMENT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382054" y="6263085"/>
            <a:ext cx="2718868" cy="3186717"/>
            <a:chOff x="0" y="0"/>
            <a:chExt cx="3625158" cy="4248956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400721" y="0"/>
              <a:ext cx="2823715" cy="2823715"/>
              <a:chOff x="0" y="0"/>
              <a:chExt cx="812800" cy="812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1104150" y="1057773"/>
              <a:ext cx="1416858" cy="651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16"/>
                </a:lnSpc>
                <a:spcBef>
                  <a:spcPct val="0"/>
                </a:spcBef>
              </a:pPr>
              <a:r>
                <a:rPr lang="en-US" b="true" sz="294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07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0" y="3647641"/>
              <a:ext cx="3625158" cy="6013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56"/>
                </a:lnSpc>
                <a:spcBef>
                  <a:spcPct val="0"/>
                </a:spcBef>
              </a:pPr>
              <a:r>
                <a:rPr lang="en-US" sz="132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Create admin, buyers, and sample data for testing/demo.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0" y="3110298"/>
              <a:ext cx="3625158" cy="3506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6"/>
                </a:lnSpc>
                <a:spcBef>
                  <a:spcPct val="0"/>
                </a:spcBef>
              </a:pPr>
              <a:r>
                <a:rPr lang="en-US" b="true" sz="1547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INITIAL SETUP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0217" y="1386988"/>
            <a:ext cx="9901845" cy="7513025"/>
          </a:xfrm>
          <a:custGeom>
            <a:avLst/>
            <a:gdLst/>
            <a:ahLst/>
            <a:cxnLst/>
            <a:rect r="r" b="b" t="t" l="l"/>
            <a:pathLst>
              <a:path h="7513025" w="9901845">
                <a:moveTo>
                  <a:pt x="0" y="0"/>
                </a:moveTo>
                <a:lnTo>
                  <a:pt x="9901845" y="0"/>
                </a:lnTo>
                <a:lnTo>
                  <a:pt x="9901845" y="7513024"/>
                </a:lnTo>
                <a:lnTo>
                  <a:pt x="0" y="7513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317434" y="3949700"/>
            <a:ext cx="5941866" cy="22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CONCEPTUAL MODEL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57059" y="423575"/>
            <a:ext cx="7056287" cy="9439849"/>
          </a:xfrm>
          <a:custGeom>
            <a:avLst/>
            <a:gdLst/>
            <a:ahLst/>
            <a:cxnLst/>
            <a:rect r="r" b="b" t="t" l="l"/>
            <a:pathLst>
              <a:path h="9439849" w="7056287">
                <a:moveTo>
                  <a:pt x="0" y="0"/>
                </a:moveTo>
                <a:lnTo>
                  <a:pt x="7056287" y="0"/>
                </a:lnTo>
                <a:lnTo>
                  <a:pt x="7056287" y="9439850"/>
                </a:lnTo>
                <a:lnTo>
                  <a:pt x="0" y="9439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2020" y="910737"/>
            <a:ext cx="10126053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USER STORY AND USE CASE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32100" y="3087110"/>
            <a:ext cx="3333288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AUTHENTICATION &amp; ACCESS CONTROL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2902096"/>
            <a:ext cx="1135836" cy="113583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11653" y="3312473"/>
            <a:ext cx="569930" cy="276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7"/>
              </a:lnSpc>
              <a:spcBef>
                <a:spcPct val="0"/>
              </a:spcBef>
            </a:pPr>
            <a:r>
              <a:rPr lang="en-US" b="true" sz="1576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33160" y="4906425"/>
            <a:ext cx="396810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PRODUCT CATALOG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33160" y="6420209"/>
            <a:ext cx="396810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SHOPPING CART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2307" y="9056830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01265" y="3320613"/>
            <a:ext cx="569930" cy="276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7"/>
              </a:lnSpc>
              <a:spcBef>
                <a:spcPct val="0"/>
              </a:spcBef>
            </a:pPr>
            <a:r>
              <a:rPr lang="en-US" b="true" sz="1576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01265" y="5129567"/>
            <a:ext cx="569930" cy="276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7"/>
              </a:lnSpc>
              <a:spcBef>
                <a:spcPct val="0"/>
              </a:spcBef>
            </a:pPr>
            <a:r>
              <a:rPr lang="en-US" b="true" sz="1576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01265" y="7107921"/>
            <a:ext cx="569930" cy="276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7"/>
              </a:lnSpc>
              <a:spcBef>
                <a:spcPct val="0"/>
              </a:spcBef>
            </a:pPr>
            <a:r>
              <a:rPr lang="en-US" b="true" sz="1576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44899" y="4496048"/>
            <a:ext cx="1135836" cy="113583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27852" y="4906425"/>
            <a:ext cx="569930" cy="276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7"/>
              </a:lnSpc>
              <a:spcBef>
                <a:spcPct val="0"/>
              </a:spcBef>
            </a:pPr>
            <a:r>
              <a:rPr lang="en-US" b="true" sz="1576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28700" y="6089084"/>
            <a:ext cx="1135836" cy="113583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11653" y="6499461"/>
            <a:ext cx="569930" cy="276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7"/>
              </a:lnSpc>
              <a:spcBef>
                <a:spcPct val="0"/>
              </a:spcBef>
            </a:pPr>
            <a:r>
              <a:rPr lang="en-US" b="true" sz="1576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74674" y="3272847"/>
            <a:ext cx="3333288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ORDERING &amp; PAYMENT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455894" y="2902096"/>
            <a:ext cx="1135836" cy="1135836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5738847" y="3312473"/>
            <a:ext cx="569930" cy="276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7"/>
              </a:lnSpc>
              <a:spcBef>
                <a:spcPct val="0"/>
              </a:spcBef>
            </a:pPr>
            <a:r>
              <a:rPr lang="en-US" b="true" sz="1576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60354" y="4906425"/>
            <a:ext cx="396810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ADDRESS MANAGEMENT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960354" y="6274098"/>
            <a:ext cx="3968105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</a:t>
            </a: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ILE &amp; RESOURCE MANAGEMENT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472093" y="4496048"/>
            <a:ext cx="1135836" cy="1135836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5755046" y="4906425"/>
            <a:ext cx="569930" cy="276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7"/>
              </a:lnSpc>
              <a:spcBef>
                <a:spcPct val="0"/>
              </a:spcBef>
            </a:pPr>
            <a:r>
              <a:rPr lang="en-US" b="true" sz="1576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05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5455894" y="6089084"/>
            <a:ext cx="1135836" cy="1135836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5738847" y="6499461"/>
            <a:ext cx="569930" cy="276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7"/>
              </a:lnSpc>
              <a:spcBef>
                <a:spcPct val="0"/>
              </a:spcBef>
            </a:pPr>
            <a:r>
              <a:rPr lang="en-US" b="true" sz="1576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6621" y="272369"/>
            <a:ext cx="1512662" cy="151266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31508" y="2644208"/>
            <a:ext cx="6232865" cy="5858679"/>
          </a:xfrm>
          <a:custGeom>
            <a:avLst/>
            <a:gdLst/>
            <a:ahLst/>
            <a:cxnLst/>
            <a:rect r="r" b="b" t="t" l="l"/>
            <a:pathLst>
              <a:path h="5858679" w="6232865">
                <a:moveTo>
                  <a:pt x="0" y="0"/>
                </a:moveTo>
                <a:lnTo>
                  <a:pt x="6232865" y="0"/>
                </a:lnTo>
                <a:lnTo>
                  <a:pt x="6232865" y="5858679"/>
                </a:lnTo>
                <a:lnTo>
                  <a:pt x="0" y="5858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63228" y="509270"/>
            <a:ext cx="14001145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AUTHENTICATION &amp; ACCESS CONTROL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25397" y="2596583"/>
            <a:ext cx="7438403" cy="501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Buyer,</a:t>
            </a: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register an account so that I can shop online.</a:t>
            </a:r>
          </a:p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Buyer,</a:t>
            </a: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login with my credentials so that I can access my personal shopping account.</a:t>
            </a:r>
          </a:p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Buyer,</a:t>
            </a: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update my profile information so that my personal details are accurate.</a:t>
            </a:r>
          </a:p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Buyer,</a:t>
            </a: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logout so that I can secure my account after shopping.</a:t>
            </a:r>
          </a:p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SysAdmin,</a:t>
            </a: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login with admin credentials so that I can manage the system.</a:t>
            </a:r>
          </a:p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SysAdmin,</a:t>
            </a: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logout so that I can secure my account.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3448" y="831532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UC1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63938" y="4531584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63938" y="6418193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1035" y="272369"/>
            <a:ext cx="1512662" cy="151266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839413" y="1794803"/>
            <a:ext cx="5670052" cy="7662233"/>
          </a:xfrm>
          <a:custGeom>
            <a:avLst/>
            <a:gdLst/>
            <a:ahLst/>
            <a:cxnLst/>
            <a:rect r="r" b="b" t="t" l="l"/>
            <a:pathLst>
              <a:path h="7662233" w="5670052">
                <a:moveTo>
                  <a:pt x="0" y="0"/>
                </a:moveTo>
                <a:lnTo>
                  <a:pt x="5670052" y="0"/>
                </a:lnTo>
                <a:lnTo>
                  <a:pt x="5670052" y="7662233"/>
                </a:lnTo>
                <a:lnTo>
                  <a:pt x="0" y="76622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68891" y="509270"/>
            <a:ext cx="10303204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PRODUCT CATALOG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63698" y="2054841"/>
            <a:ext cx="8334159" cy="7402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Buyer, </a:t>
            </a: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 want to browse all products so that I can see the available clothing items.</a:t>
            </a:r>
          </a:p>
          <a:p>
            <a:pPr algn="just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Buyer,</a:t>
            </a: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filter products by category so that I can quickly find what I need.</a:t>
            </a:r>
          </a:p>
          <a:p>
            <a:pPr algn="just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Buyer,</a:t>
            </a: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view product details (name, description, price, brand, rating, images, variants) so that I can decide whether to purchase.</a:t>
            </a:r>
          </a:p>
          <a:p>
            <a:pPr algn="just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Buyer,</a:t>
            </a: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see stock availability for each product variant so that I know if my size/color is available.</a:t>
            </a:r>
          </a:p>
          <a:p>
            <a:pPr algn="just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Buyer,</a:t>
            </a: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see new arrival products so that I don’t miss the latest items.</a:t>
            </a:r>
          </a:p>
          <a:p>
            <a:pPr algn="just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SysAdmin,</a:t>
            </a: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add new products so that I can expand the catalog.</a:t>
            </a:r>
          </a:p>
          <a:p>
            <a:pPr algn="just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SysAdmin,</a:t>
            </a: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update product details so that information is always correct.</a:t>
            </a:r>
          </a:p>
          <a:p>
            <a:pPr algn="just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SysAdmin,</a:t>
            </a: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delete products so that outdated or unavailable items are removed.</a:t>
            </a:r>
          </a:p>
          <a:p>
            <a:pPr algn="just">
              <a:lnSpc>
                <a:spcPts val="3079"/>
              </a:lnSpc>
            </a:pPr>
            <a:r>
              <a:rPr lang="en-US" b="true" sz="21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SysAdmin,</a:t>
            </a: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manage categories  and category types so that products are organized logically.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7861" y="831532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UC2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63938" y="4531584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63938" y="6418193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61176"/>
            <a:ext cx="1512662" cy="151266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802852" y="1317508"/>
            <a:ext cx="4952981" cy="7784646"/>
          </a:xfrm>
          <a:custGeom>
            <a:avLst/>
            <a:gdLst/>
            <a:ahLst/>
            <a:cxnLst/>
            <a:rect r="r" b="b" t="t" l="l"/>
            <a:pathLst>
              <a:path h="7784646" w="4952981">
                <a:moveTo>
                  <a:pt x="0" y="0"/>
                </a:moveTo>
                <a:lnTo>
                  <a:pt x="4952982" y="0"/>
                </a:lnTo>
                <a:lnTo>
                  <a:pt x="4952982" y="7784646"/>
                </a:lnTo>
                <a:lnTo>
                  <a:pt x="0" y="77846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76190" y="798078"/>
            <a:ext cx="10303204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SHOPPING CART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88789" y="2409889"/>
            <a:ext cx="7954654" cy="669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Buyer,</a:t>
            </a: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add products to the cart from the product list or detail page so that I can prepare for checkout.</a:t>
            </a: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Buyer,</a:t>
            </a: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view my shopping cart so that I can review selected items.</a:t>
            </a: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Buyer,</a:t>
            </a: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update product quantities in the cart so that I buy the correct amount.</a:t>
            </a: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Buyer,</a:t>
            </a: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remove products from the cart so that I can adjust my purchase.</a:t>
            </a: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Buyer,</a:t>
            </a: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see a summary panel (subtotal, shipping cost, total) so that I know the final amount.</a:t>
            </a: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SysAdmin,</a:t>
            </a: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view all user carts so that I can detect invalid carts.</a:t>
            </a:r>
          </a:p>
          <a:p>
            <a:pPr algn="just">
              <a:lnSpc>
                <a:spcPts val="3359"/>
              </a:lnSpc>
            </a:pPr>
            <a:r>
              <a:rPr lang="en-US" b="true" sz="23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SysAdmin,</a:t>
            </a: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disable invalid carts so that the system remains consistent.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405526" y="1120340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UC3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63938" y="6418193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53205"/>
            <a:ext cx="1512662" cy="151266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666950" y="2165868"/>
            <a:ext cx="4592350" cy="7092432"/>
          </a:xfrm>
          <a:custGeom>
            <a:avLst/>
            <a:gdLst/>
            <a:ahLst/>
            <a:cxnLst/>
            <a:rect r="r" b="b" t="t" l="l"/>
            <a:pathLst>
              <a:path h="7092432" w="4592350">
                <a:moveTo>
                  <a:pt x="0" y="0"/>
                </a:moveTo>
                <a:lnTo>
                  <a:pt x="4592350" y="0"/>
                </a:lnTo>
                <a:lnTo>
                  <a:pt x="4592350" y="7092432"/>
                </a:lnTo>
                <a:lnTo>
                  <a:pt x="0" y="7092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16246" y="890106"/>
            <a:ext cx="10303204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ORDERING &amp; PAYMENT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41362" y="2566035"/>
            <a:ext cx="7954654" cy="669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Buyer,</a:t>
            </a: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checkout my cart so that I can place an order.</a:t>
            </a: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Buyer,</a:t>
            </a: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provide a delivery address at checkout so that my order is shipped correctly.</a:t>
            </a: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Buyer,</a:t>
            </a: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receive order confirmation so that I know my purchase is successful.</a:t>
            </a: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Buyer,</a:t>
            </a: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track my order status (pending, confirmed, shipped, delivered) so that I know where my order is.</a:t>
            </a: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Buyer,</a:t>
            </a: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pay for my order securely so that I complete the purchase.</a:t>
            </a: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SysAdmin,</a:t>
            </a: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view all orders so that I can monitor system activity.</a:t>
            </a:r>
          </a:p>
          <a:p>
            <a:pPr algn="just">
              <a:lnSpc>
                <a:spcPts val="3359"/>
              </a:lnSpc>
            </a:pPr>
            <a:r>
              <a:rPr lang="en-US" b="true" sz="23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SysAdmin,</a:t>
            </a: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update order status so that delivery progress is reflected accurately.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405526" y="1212369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UC4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63938" y="4531584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2953" y="534828"/>
            <a:ext cx="1512662" cy="151266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152435" y="2725242"/>
            <a:ext cx="7106865" cy="5680658"/>
          </a:xfrm>
          <a:custGeom>
            <a:avLst/>
            <a:gdLst/>
            <a:ahLst/>
            <a:cxnLst/>
            <a:rect r="r" b="b" t="t" l="l"/>
            <a:pathLst>
              <a:path h="5680658" w="7106865">
                <a:moveTo>
                  <a:pt x="0" y="0"/>
                </a:moveTo>
                <a:lnTo>
                  <a:pt x="7106865" y="0"/>
                </a:lnTo>
                <a:lnTo>
                  <a:pt x="7106865" y="5680657"/>
                </a:lnTo>
                <a:lnTo>
                  <a:pt x="0" y="5680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02663" y="771729"/>
            <a:ext cx="10303204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ADDRESS MANAGEMENT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9779" y="2677617"/>
            <a:ext cx="7954654" cy="363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Buyer,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add multiple addresses so that I can choose different delivery locations.</a:t>
            </a:r>
          </a:p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Buyer,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update or delete my addresses so that my information stays up-to-date.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29779" y="1093991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UC5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63938" y="4531584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63938" y="6418193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3505" y="561176"/>
            <a:ext cx="1512662" cy="151266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963938" y="3086100"/>
            <a:ext cx="7388545" cy="4617841"/>
          </a:xfrm>
          <a:custGeom>
            <a:avLst/>
            <a:gdLst/>
            <a:ahLst/>
            <a:cxnLst/>
            <a:rect r="r" b="b" t="t" l="l"/>
            <a:pathLst>
              <a:path h="4617841" w="7388545">
                <a:moveTo>
                  <a:pt x="0" y="0"/>
                </a:moveTo>
                <a:lnTo>
                  <a:pt x="7388545" y="0"/>
                </a:lnTo>
                <a:lnTo>
                  <a:pt x="7388545" y="4617840"/>
                </a:lnTo>
                <a:lnTo>
                  <a:pt x="0" y="46178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44649" y="798078"/>
            <a:ext cx="12310726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FILE &amp; RESOURCE MANAGEMENT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40331" y="3135877"/>
            <a:ext cx="7954654" cy="363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SysAdmin,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upload product images so that products have visuals in the catalog.</a:t>
            </a:r>
          </a:p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SysAdmin,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update product resources (primary and secondary images) so that Buyers see correct visuals.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740331" y="1120340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UC6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63938" y="4531584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63938" y="6418193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75976" y="465926"/>
            <a:ext cx="12872905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INITIALIZATION &amp; SAMPLE DATA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56955" y="1978883"/>
            <a:ext cx="13974091" cy="2590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SysAdmin, 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 want to have an initial admin account so that I can start managing the system.</a:t>
            </a:r>
          </a:p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 a SysAdmin,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 want to have sample Buyer accounts and product data so that the system can be tested and demonstrated.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649195" y="2447040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UC6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63938" y="4531584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63938" y="6418193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35083" y="4018293"/>
            <a:ext cx="10417835" cy="4989154"/>
            <a:chOff x="0" y="0"/>
            <a:chExt cx="1256699" cy="6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6699" cy="601839"/>
            </a:xfrm>
            <a:custGeom>
              <a:avLst/>
              <a:gdLst/>
              <a:ahLst/>
              <a:cxnLst/>
              <a:rect r="r" b="b" t="t" l="l"/>
              <a:pathLst>
                <a:path h="601839" w="1256699">
                  <a:moveTo>
                    <a:pt x="17092" y="0"/>
                  </a:moveTo>
                  <a:lnTo>
                    <a:pt x="1239606" y="0"/>
                  </a:lnTo>
                  <a:cubicBezTo>
                    <a:pt x="1244139" y="0"/>
                    <a:pt x="1248487" y="1801"/>
                    <a:pt x="1251692" y="5006"/>
                  </a:cubicBezTo>
                  <a:cubicBezTo>
                    <a:pt x="1254898" y="8212"/>
                    <a:pt x="1256699" y="12559"/>
                    <a:pt x="1256699" y="17092"/>
                  </a:cubicBezTo>
                  <a:lnTo>
                    <a:pt x="1256699" y="584747"/>
                  </a:lnTo>
                  <a:cubicBezTo>
                    <a:pt x="1256699" y="594187"/>
                    <a:pt x="1249046" y="601839"/>
                    <a:pt x="1239606" y="601839"/>
                  </a:cubicBezTo>
                  <a:lnTo>
                    <a:pt x="17092" y="601839"/>
                  </a:lnTo>
                  <a:cubicBezTo>
                    <a:pt x="12559" y="601839"/>
                    <a:pt x="8212" y="600039"/>
                    <a:pt x="5006" y="596833"/>
                  </a:cubicBezTo>
                  <a:cubicBezTo>
                    <a:pt x="1801" y="593628"/>
                    <a:pt x="0" y="589280"/>
                    <a:pt x="0" y="584747"/>
                  </a:cubicBezTo>
                  <a:lnTo>
                    <a:pt x="0" y="17092"/>
                  </a:lnTo>
                  <a:cubicBezTo>
                    <a:pt x="0" y="12559"/>
                    <a:pt x="1801" y="8212"/>
                    <a:pt x="5006" y="5006"/>
                  </a:cubicBezTo>
                  <a:cubicBezTo>
                    <a:pt x="8212" y="1801"/>
                    <a:pt x="12559" y="0"/>
                    <a:pt x="1709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603" r="0" b="-1960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990600"/>
            <a:ext cx="351253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SOFTWARE TESTING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05285" y="1839910"/>
            <a:ext cx="6477430" cy="193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THANK YOU FOR YOUR ATTENTION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743135" y="2854640"/>
            <a:ext cx="3512536" cy="672860"/>
            <a:chOff x="0" y="0"/>
            <a:chExt cx="4683381" cy="89714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500907"/>
              <a:ext cx="4683381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0338985475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164911" y="-38100"/>
              <a:ext cx="235356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PHONE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12538913" y="4018293"/>
            <a:ext cx="3920981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DAGz3nrrWno</dc:identifier>
  <dcterms:modified xsi:type="dcterms:W3CDTF">2011-08-01T06:04:30Z</dcterms:modified>
  <cp:revision>1</cp:revision>
  <dc:title>Technology</dc:title>
</cp:coreProperties>
</file>